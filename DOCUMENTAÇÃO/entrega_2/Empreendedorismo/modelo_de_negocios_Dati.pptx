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5349E-542C-4856-AC3A-B0EFF2672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70789D-2140-4647-B23E-FA186649D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78CCC3-8BEC-45F8-A180-61A0B04D0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2988F8-9880-457E-891D-7A359C7C1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531231-1CD4-4601-BD3B-F4F6618E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309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C8D41-21C5-45EE-A7BD-39A9005A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88B41B-FA4B-4F63-B553-7A2026DD5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15BDB6-C654-471C-8A6D-F9E5EE17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2F31C7-F820-48C6-B492-41DDC5CB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83DA6A-AAAB-4614-9012-043B9265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109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F6E08-4B05-4657-8BC4-D46BB05A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B2D84D-5F06-40CA-91E3-CC61C2504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6D76CE-72DD-485B-87D6-5CDA250E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298935-9D28-4D39-B283-F8A877CDE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48D6AC-D3E4-46BC-A05F-05C04DBC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08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96FF4-E84C-4778-B83A-9EA949404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A4B2A3-49AE-401D-8B13-F1CE38293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9BD3BB-0DB5-4316-B0A5-362EC56A0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5E61C5-117B-4C39-9110-E15A8D405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BDD6ED-E59D-4187-8454-B06B15B7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89D194-792B-466E-8236-A8E8250AD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17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7D44C-ADA2-4225-93AA-AE442055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B0C9A7-CF8E-41CA-9578-C06D4E843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4BC133-7E63-4CA9-B09E-E9A9089C1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821560-BF30-4EFF-AA4F-925B34837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98E0FA3-67FA-470D-9969-F3255582E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737C924-AFD6-4BCC-A26D-9A577216B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AC02B57-FAFE-484E-9C2F-2D04C7030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AE6C9DD-2C24-4B50-BB11-C56EAF6AC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91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1503B-BD2E-4234-8311-9498844CE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F94C82E-EE0C-47ED-B8AD-67F1F5478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9A480B-530B-45E1-BDD5-852B3C0A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BF783C-F36B-417F-A0A0-1CBD4DEB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189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722CF43-8F17-4F55-A434-D39FC860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0FB5607-0F26-47BE-A25E-2BD8FCEB7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483B2D-F34F-4AC9-9FB2-9D62F95D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505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6E432-A9DA-4F3C-8278-DDC1BECF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24146A-0AC4-4E20-A89E-67619D918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66083A-4A8B-4938-A5D9-8BBED3DFE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43FDE1-0156-4FF9-8EC5-23407DC2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0DE570-804F-4283-9C06-DE1A2245C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DB2CAD-C38B-4F81-8CDD-8CACBA54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33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A8361-8FDC-43B8-A227-B7F8469BB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914A395-B356-4983-B4AD-623B571C33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711BE1-4455-4E80-A731-EEC604446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A00724-D02C-4677-9A48-18ED010BD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63DCA8-7EF1-4BA2-A523-C17BC590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8626AE-BA3A-4F6C-9ACC-345DE3C4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774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5C2D2-DE22-401A-8C02-58553A3C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B2D599D-7417-4EB4-B9A2-4D6AED4C8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28D9CF-65F1-4C0B-BFB8-3D4C5AD2E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8ED5E8-9515-4093-9502-F5596837B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3F0630-3054-4923-AE31-8E52F0FA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06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BC923E-DD81-4547-969C-9C176A125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109FF0-8D96-4AAA-A376-12C550E84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6C7EF8-5ED5-4476-BD24-D8B19F8F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E2FA76-4896-4055-A6E6-4535247EC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52CCA2-39D3-4E2C-9267-162431E7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27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622BC83-D6B4-41C7-B89C-03A3E6297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E87678-3635-4048-A0C9-925F24A67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C9FB4D-916E-451E-BB74-3EC94D46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E191D-339B-45BF-9F9C-99688F6C5A78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A0C1E9-552F-4FE1-8EDF-B1B6EFA58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6AA3B1-50CD-4DA5-8158-5E5A171D0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DC1A4-82A4-4E19-8717-51B8373BAE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021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88116E0-5ACD-42CC-9016-C69BF1808FAA}"/>
              </a:ext>
            </a:extLst>
          </p:cNvPr>
          <p:cNvSpPr/>
          <p:nvPr/>
        </p:nvSpPr>
        <p:spPr>
          <a:xfrm>
            <a:off x="848831" y="3886200"/>
            <a:ext cx="872047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INTRODUÇÃO:</a:t>
            </a:r>
          </a:p>
          <a:p>
            <a:r>
              <a:rPr lang="pt-BR" dirty="0"/>
              <a:t>O que o projeto DATI tem é alavancar o crescimento de empresas do mercado de</a:t>
            </a:r>
          </a:p>
          <a:p>
            <a:r>
              <a:rPr lang="pt-BR" dirty="0"/>
              <a:t>alimentação, através da coleta e análise de dados e criação de campanhas específicas para</a:t>
            </a:r>
          </a:p>
          <a:p>
            <a:r>
              <a:rPr lang="pt-BR" dirty="0"/>
              <a:t>este público. Sendo assim, a proposta consiste no uso de Market Data </a:t>
            </a:r>
            <a:r>
              <a:rPr lang="pt-BR" dirty="0" err="1"/>
              <a:t>Analytics</a:t>
            </a:r>
            <a:r>
              <a:rPr lang="pt-BR" dirty="0"/>
              <a:t> abrangendo</a:t>
            </a:r>
          </a:p>
          <a:p>
            <a:r>
              <a:rPr lang="pt-BR" dirty="0"/>
              <a:t>insights para melhorar sua performance comercial, vender mais e de maneira inteligente e</a:t>
            </a:r>
          </a:p>
          <a:p>
            <a:r>
              <a:rPr lang="pt-BR" dirty="0"/>
              <a:t>quantitativa atrair mais clientes, com uma parceria com a </a:t>
            </a:r>
            <a:r>
              <a:rPr lang="pt-BR" dirty="0" err="1"/>
              <a:t>Cannoli</a:t>
            </a:r>
            <a:r>
              <a:rPr lang="pt-BR" dirty="0"/>
              <a:t>, podemos alcançar</a:t>
            </a:r>
          </a:p>
          <a:p>
            <a:r>
              <a:rPr lang="pt-BR" dirty="0"/>
              <a:t>diversos clientes do ramo.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99C9BAD-0990-4733-BD63-053C76367136}"/>
              </a:ext>
            </a:extLst>
          </p:cNvPr>
          <p:cNvSpPr/>
          <p:nvPr/>
        </p:nvSpPr>
        <p:spPr>
          <a:xfrm>
            <a:off x="848831" y="566678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FUNDAÇÃO ESCOLA DE COMÉRCIO ALVARES PENTEADO</a:t>
            </a:r>
          </a:p>
          <a:p>
            <a:endParaRPr lang="pt-BR" dirty="0"/>
          </a:p>
          <a:p>
            <a:r>
              <a:rPr lang="pt-BR" dirty="0" err="1"/>
              <a:t>Lucca</a:t>
            </a:r>
            <a:r>
              <a:rPr lang="pt-BR" dirty="0"/>
              <a:t> Brandão -23024740</a:t>
            </a:r>
          </a:p>
          <a:p>
            <a:r>
              <a:rPr lang="pt-BR" dirty="0"/>
              <a:t>Murilo Lopes – 24026183</a:t>
            </a:r>
          </a:p>
          <a:p>
            <a:r>
              <a:rPr lang="pt-BR" dirty="0"/>
              <a:t>Rodrigo Cruz – 24026578</a:t>
            </a:r>
          </a:p>
          <a:p>
            <a:r>
              <a:rPr lang="pt-BR" dirty="0"/>
              <a:t>Vinicius Kingo - 24026141</a:t>
            </a:r>
          </a:p>
          <a:p>
            <a:endParaRPr lang="pt-BR" dirty="0"/>
          </a:p>
          <a:p>
            <a:r>
              <a:rPr lang="pt-BR" dirty="0"/>
              <a:t>Modelos de negócios</a:t>
            </a:r>
          </a:p>
          <a:p>
            <a:endParaRPr lang="pt-BR" dirty="0"/>
          </a:p>
          <a:p>
            <a:r>
              <a:rPr lang="pt-BR" dirty="0"/>
              <a:t>DATI</a:t>
            </a:r>
          </a:p>
        </p:txBody>
      </p:sp>
    </p:spTree>
    <p:extLst>
      <p:ext uri="{BB962C8B-B14F-4D97-AF65-F5344CB8AC3E}">
        <p14:creationId xmlns:p14="http://schemas.microsoft.com/office/powerpoint/2010/main" val="277648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0B2040F-FC86-4590-9489-38752F8B4E78}"/>
              </a:ext>
            </a:extLst>
          </p:cNvPr>
          <p:cNvSpPr/>
          <p:nvPr/>
        </p:nvSpPr>
        <p:spPr>
          <a:xfrm>
            <a:off x="818706" y="556598"/>
            <a:ext cx="870806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PROBLEMA IDENTIFICADO:</a:t>
            </a:r>
          </a:p>
          <a:p>
            <a:r>
              <a:rPr lang="pt-BR" dirty="0"/>
              <a:t>O mercado de restaurantes e alimentação se depara com um grande desafio no que</a:t>
            </a:r>
          </a:p>
          <a:p>
            <a:r>
              <a:rPr lang="pt-BR" dirty="0"/>
              <a:t>se refere à tomada de decisões com base em dados. Muitos estabelecimentos pautam suas</a:t>
            </a:r>
          </a:p>
          <a:p>
            <a:r>
              <a:rPr lang="pt-BR" dirty="0"/>
              <a:t>ações em percepções subjetivas ou naquilo que já foi vivido, sem aproveitar o potencial das</a:t>
            </a:r>
          </a:p>
          <a:p>
            <a:r>
              <a:rPr lang="pt-BR" dirty="0"/>
              <a:t>informações que já têm em mãos. Isso resulta em: Falta de direcionamento estratégico nas</a:t>
            </a:r>
          </a:p>
          <a:p>
            <a:r>
              <a:rPr lang="pt-BR" dirty="0"/>
              <a:t>campanhas de marketing; Dificuldade para entender o comportamento dos clientes;</a:t>
            </a:r>
          </a:p>
          <a:p>
            <a:r>
              <a:rPr lang="pt-BR" dirty="0"/>
              <a:t>Desperdício de recursos com ações pouco eficientes; Falta de previsibilidade no crescimento</a:t>
            </a:r>
          </a:p>
          <a:p>
            <a:r>
              <a:rPr lang="pt-BR" dirty="0"/>
              <a:t>das vendas.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3947AFE-C943-475E-B1CC-5FEF556F1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548" y="2572818"/>
            <a:ext cx="6844709" cy="411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31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6E9C12C-B513-4EDC-9613-1DCF0EB05784}"/>
              </a:ext>
            </a:extLst>
          </p:cNvPr>
          <p:cNvSpPr/>
          <p:nvPr/>
        </p:nvSpPr>
        <p:spPr>
          <a:xfrm>
            <a:off x="606055" y="556598"/>
            <a:ext cx="8686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SOLUÇÃO PROPOSTA:</a:t>
            </a:r>
          </a:p>
          <a:p>
            <a:r>
              <a:rPr lang="pt-BR" dirty="0"/>
              <a:t>A DATI disponibiliza uma solução fundamentada na análise de dados avançada,</a:t>
            </a:r>
          </a:p>
          <a:p>
            <a:r>
              <a:rPr lang="pt-BR" dirty="0"/>
              <a:t>empregando ferramentas como Python, MySQL e Excel, combinadas com painéis interativos</a:t>
            </a:r>
          </a:p>
          <a:p>
            <a:r>
              <a:rPr lang="pt-BR" dirty="0"/>
              <a:t>e sistemas de visualização de dados. Essas análises permitem criar estratégias</a:t>
            </a:r>
          </a:p>
          <a:p>
            <a:r>
              <a:rPr lang="pt-BR" dirty="0"/>
              <a:t>personalizadas que guiam as decisões da empresa parceira (como a </a:t>
            </a:r>
            <a:r>
              <a:rPr lang="pt-BR" dirty="0" err="1"/>
              <a:t>Cannoli</a:t>
            </a:r>
            <a:r>
              <a:rPr lang="pt-BR" dirty="0"/>
              <a:t>), melhorando a</a:t>
            </a:r>
          </a:p>
          <a:p>
            <a:r>
              <a:rPr lang="pt-BR" dirty="0"/>
              <a:t>taxa de conversão das campanhas e otimizando os gastos com marketing. A proposta de</a:t>
            </a:r>
          </a:p>
          <a:p>
            <a:r>
              <a:rPr lang="pt-BR" dirty="0"/>
              <a:t>valor foca em converter dados em crescimento real, proporcionando segurança, clareza e</a:t>
            </a:r>
          </a:p>
          <a:p>
            <a:r>
              <a:rPr lang="pt-BR" dirty="0"/>
              <a:t>confiabilidade no uso das informações.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E24AED7-AB03-4036-9C18-CBB3D60BF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145" y="3141921"/>
            <a:ext cx="5611850" cy="340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7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6D23734-1694-4E4E-8CBE-EBE3C2ECAC61}"/>
              </a:ext>
            </a:extLst>
          </p:cNvPr>
          <p:cNvSpPr/>
          <p:nvPr/>
        </p:nvSpPr>
        <p:spPr>
          <a:xfrm>
            <a:off x="907311" y="425854"/>
            <a:ext cx="1037737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TAMANHO DO MERCADO:</a:t>
            </a:r>
          </a:p>
          <a:p>
            <a:r>
              <a:rPr lang="pt-BR" dirty="0"/>
              <a:t>Um dos setores que mais cresce no Brasil é o de alimentação por delivery e</a:t>
            </a:r>
          </a:p>
          <a:p>
            <a:r>
              <a:rPr lang="pt-BR" dirty="0"/>
              <a:t>restaurantes fixos. De acordo com informações fornecidas pela Associação Brasileira da</a:t>
            </a:r>
          </a:p>
          <a:p>
            <a:r>
              <a:rPr lang="pt-BR" dirty="0"/>
              <a:t>Indústria de Alimentos (ABIA) e pela Associação Nacional de Restaurantes (ANR):</a:t>
            </a:r>
          </a:p>
          <a:p>
            <a:r>
              <a:rPr lang="pt-BR" dirty="0"/>
              <a:t>O setor gera cerca de R$ 540 bilhões anualmente (2024);</a:t>
            </a:r>
          </a:p>
          <a:p>
            <a:r>
              <a:rPr lang="pt-BR" dirty="0"/>
              <a:t>Há mais de um milhão de estabelecimentos no Brasil, incluindo bares, restaurantes e lanchonetes;</a:t>
            </a:r>
          </a:p>
          <a:p>
            <a:r>
              <a:rPr lang="pt-BR" dirty="0"/>
              <a:t>O setor cresce cerca de 10% anualmente, impulsionado pelo delivery, consumo rápido</a:t>
            </a:r>
          </a:p>
          <a:p>
            <a:r>
              <a:rPr lang="pt-BR" dirty="0"/>
              <a:t>e digitalização;</a:t>
            </a:r>
          </a:p>
          <a:p>
            <a:r>
              <a:rPr lang="pt-BR" dirty="0"/>
              <a:t>Apenas aproximadamente 25% dos estabelecimentos empregam efetivamente</a:t>
            </a:r>
          </a:p>
          <a:p>
            <a:r>
              <a:rPr lang="pt-BR" dirty="0"/>
              <a:t>ferramentas de análise de dados para tomar decisões estratégicas.</a:t>
            </a:r>
          </a:p>
          <a:p>
            <a:r>
              <a:rPr lang="pt-BR" dirty="0"/>
              <a:t>Esses dados revelam uma significativa oportunidade de mercado para a DATI, uma</a:t>
            </a:r>
          </a:p>
          <a:p>
            <a:r>
              <a:rPr lang="pt-BR" dirty="0"/>
              <a:t>vez que existe uma vasta gama de empresas em busca de melhorar sua eficiência e</a:t>
            </a:r>
          </a:p>
          <a:p>
            <a:r>
              <a:rPr lang="pt-BR" dirty="0"/>
              <a:t>rentabilidade por meio de soluções tecnológicas e inteligência de dados.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6CAF14-28D2-44C8-8011-3BD59046F0B4}"/>
              </a:ext>
            </a:extLst>
          </p:cNvPr>
          <p:cNvSpPr/>
          <p:nvPr/>
        </p:nvSpPr>
        <p:spPr>
          <a:xfrm>
            <a:off x="907311" y="4204233"/>
            <a:ext cx="88923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ESTRATÉGIA DE MERCADO:</a:t>
            </a:r>
          </a:p>
          <a:p>
            <a:r>
              <a:rPr lang="pt-BR" dirty="0"/>
              <a:t>A DATI busca se estabelecer como uma parceira estratégica para</a:t>
            </a:r>
          </a:p>
          <a:p>
            <a:r>
              <a:rPr lang="pt-BR" dirty="0"/>
              <a:t>restaurantes e empresas do setor alimentício, fornecendo soluções</a:t>
            </a:r>
          </a:p>
          <a:p>
            <a:r>
              <a:rPr lang="pt-BR" dirty="0"/>
              <a:t>personalizadas.</a:t>
            </a:r>
          </a:p>
          <a:p>
            <a:r>
              <a:rPr lang="pt-BR" dirty="0"/>
              <a:t>O crescimento será mantido por: Colaborações com a </a:t>
            </a:r>
            <a:r>
              <a:rPr lang="pt-BR" dirty="0" err="1"/>
              <a:t>Cannoli</a:t>
            </a:r>
            <a:r>
              <a:rPr lang="pt-BR" dirty="0"/>
              <a:t>; Expansão</a:t>
            </a:r>
          </a:p>
          <a:p>
            <a:r>
              <a:rPr lang="pt-BR" dirty="0"/>
              <a:t>da utilização de tecnologias de análise preditiva; Desenvolvimento de painéis</a:t>
            </a:r>
          </a:p>
          <a:p>
            <a:r>
              <a:rPr lang="pt-BR" dirty="0"/>
              <a:t>personalizados para cada cliente; Reforço da presença online (site e mídias</a:t>
            </a:r>
          </a:p>
          <a:p>
            <a:r>
              <a:rPr lang="pt-BR" dirty="0"/>
              <a:t>sociais).</a:t>
            </a:r>
          </a:p>
        </p:txBody>
      </p:sp>
    </p:spTree>
    <p:extLst>
      <p:ext uri="{BB962C8B-B14F-4D97-AF65-F5344CB8AC3E}">
        <p14:creationId xmlns:p14="http://schemas.microsoft.com/office/powerpoint/2010/main" val="94741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89106BD-B0F9-45DB-9E45-41DFCDF0EC01}"/>
              </a:ext>
            </a:extLst>
          </p:cNvPr>
          <p:cNvSpPr/>
          <p:nvPr/>
        </p:nvSpPr>
        <p:spPr>
          <a:xfrm>
            <a:off x="1236921" y="463988"/>
            <a:ext cx="971815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CONCLUSÃO:</a:t>
            </a:r>
          </a:p>
          <a:p>
            <a:r>
              <a:rPr lang="pt-BR" dirty="0"/>
              <a:t>A DATI surge como uma solução inovadora e estratégica para um dos principais</a:t>
            </a:r>
          </a:p>
          <a:p>
            <a:r>
              <a:rPr lang="pt-BR" dirty="0"/>
              <a:t>desafios da indústria alimentícia: converter dados em decisões que produzam resultados</a:t>
            </a:r>
          </a:p>
          <a:p>
            <a:r>
              <a:rPr lang="pt-BR" dirty="0"/>
              <a:t>concretos. Ao combinar tecnologia, análise estatística e inteligência de mercado, a empresa</a:t>
            </a:r>
          </a:p>
          <a:p>
            <a:r>
              <a:rPr lang="pt-BR" dirty="0"/>
              <a:t>oferece uma abordagem moderna e eficaz para ajudar restaurantes e negócios do setor a</a:t>
            </a:r>
          </a:p>
          <a:p>
            <a:r>
              <a:rPr lang="pt-BR" dirty="0"/>
              <a:t>otimizar suas operações e aumentar a lucratividade.</a:t>
            </a:r>
          </a:p>
          <a:p>
            <a:endParaRPr lang="pt-BR" dirty="0"/>
          </a:p>
          <a:p>
            <a:r>
              <a:rPr lang="pt-BR" dirty="0"/>
              <a:t>Com o uso de ferramentas como Python, MySQL e Excel, a DATI consegue fazer</a:t>
            </a:r>
          </a:p>
          <a:p>
            <a:r>
              <a:rPr lang="pt-BR" dirty="0"/>
              <a:t>análises detalhadas e confiáveis, convertendo grandes volumes de dados em informações</a:t>
            </a:r>
          </a:p>
          <a:p>
            <a:r>
              <a:rPr lang="pt-BR" dirty="0"/>
              <a:t>claras, úteis e que incentivam a ação. Isso permite o desenvolvimento de campanhas</a:t>
            </a:r>
          </a:p>
          <a:p>
            <a:r>
              <a:rPr lang="pt-BR" dirty="0"/>
              <a:t>personalizadas, estratégias focadas e relatórios que fornecem uma visão preditiva do</a:t>
            </a:r>
          </a:p>
          <a:p>
            <a:r>
              <a:rPr lang="pt-BR" dirty="0"/>
              <a:t>comportamento do cliente e das tendências do mercado.</a:t>
            </a:r>
          </a:p>
          <a:p>
            <a:endParaRPr lang="pt-BR" dirty="0"/>
          </a:p>
          <a:p>
            <a:r>
              <a:rPr lang="pt-BR" dirty="0"/>
              <a:t>Além disso, o projeto mostra que está alinhado com as necessidades do mercado,</a:t>
            </a:r>
          </a:p>
          <a:p>
            <a:r>
              <a:rPr lang="pt-BR" dirty="0"/>
              <a:t>que valoriza empresas que podem incorporar tecnologia, inovação e sustentabilidade em</a:t>
            </a:r>
          </a:p>
          <a:p>
            <a:r>
              <a:rPr lang="pt-BR" dirty="0"/>
              <a:t>seus negócios. A digitalização no setor alimentício é uma tendência inegável, e a DATI está</a:t>
            </a:r>
          </a:p>
          <a:p>
            <a:r>
              <a:rPr lang="pt-BR" dirty="0"/>
              <a:t>aproveitando a baixa busca desse mercado, proporcionando um serviço que mescla eficácia</a:t>
            </a:r>
          </a:p>
          <a:p>
            <a:r>
              <a:rPr lang="pt-BR" dirty="0"/>
              <a:t>técnica com sensibilidade comercial.</a:t>
            </a:r>
          </a:p>
          <a:p>
            <a:r>
              <a:rPr lang="pt-BR" dirty="0"/>
              <a:t>Com o apoio da instituição FECAP e com empresas do setor, como a </a:t>
            </a:r>
            <a:r>
              <a:rPr lang="pt-BR" dirty="0" err="1"/>
              <a:t>Cannoli</a:t>
            </a:r>
            <a:r>
              <a:rPr lang="pt-BR" dirty="0"/>
              <a:t>, o</a:t>
            </a:r>
          </a:p>
          <a:p>
            <a:r>
              <a:rPr lang="pt-BR" dirty="0"/>
              <a:t>ecossistema de inovação proposto é fortalecido, permitindo que as soluções criadas sejam</a:t>
            </a:r>
          </a:p>
          <a:p>
            <a:r>
              <a:rPr lang="pt-BR" dirty="0"/>
              <a:t>implementadas em situações reais, produzindo resultados mensuráveis e benefícios tanto</a:t>
            </a:r>
          </a:p>
          <a:p>
            <a:r>
              <a:rPr lang="pt-BR" dirty="0"/>
              <a:t>para os clientes quanto para o mercado como um todo.</a:t>
            </a:r>
          </a:p>
        </p:txBody>
      </p:sp>
    </p:spTree>
    <p:extLst>
      <p:ext uri="{BB962C8B-B14F-4D97-AF65-F5344CB8AC3E}">
        <p14:creationId xmlns:p14="http://schemas.microsoft.com/office/powerpoint/2010/main" val="4083465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745</Words>
  <Application>Microsoft Office PowerPoint</Application>
  <PresentationFormat>Widescreen</PresentationFormat>
  <Paragraphs>76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kingo hirata de oliveira</dc:creator>
  <cp:lastModifiedBy>vinicius kingo hirata de oliveira</cp:lastModifiedBy>
  <cp:revision>2</cp:revision>
  <dcterms:created xsi:type="dcterms:W3CDTF">2025-11-10T23:46:51Z</dcterms:created>
  <dcterms:modified xsi:type="dcterms:W3CDTF">2025-11-10T23:55:00Z</dcterms:modified>
</cp:coreProperties>
</file>